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21040" y="-320040"/>
            <a:ext cx="4389120" cy="7498079"/>
          </a:xfrm>
          <a:prstGeom prst="roundRect">
            <a:avLst>
              <a:gd name="adj" fmla="val 8000"/>
            </a:avLst>
          </a:prstGeom>
          <a:solidFill>
            <a:srgbClr val="03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coscan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960120" cy="96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53035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ptos Display"/>
              </a:rPr>
              <a:t>EcoScan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42032"/>
            <a:ext cx="65836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D2FF"/>
                </a:solidFill>
                <a:latin typeface="Aptos Display"/>
              </a:rPr>
              <a:t>A Real-Time Waste Classification Framework using Edge-Based Computer Vision and Mobile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01568"/>
            <a:ext cx="6126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Proponent: Floyd Allen B. Bueno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22191"/>
            <a:ext cx="5669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 Display"/>
              </a:rPr>
              <a:t>BSCS-2C ? Gordon College ? 2nd Semester A.Y. 2025?2026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43484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091C26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D2FF"/>
                </a:solidFill>
                <a:latin typeface="Aptos"/>
              </a:rPr>
              <a:t>SDG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443484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091C26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D2FF"/>
                </a:solidFill>
                <a:latin typeface="Aptos"/>
              </a:rPr>
              <a:t>EDGE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4348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91C26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D2FF"/>
                </a:solidFill>
                <a:latin typeface="Aptos"/>
              </a:rPr>
              <a:t>PWA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822960"/>
            <a:ext cx="2514600" cy="5166360"/>
          </a:xfrm>
          <a:prstGeom prst="roundRect">
            <a:avLst>
              <a:gd name="adj" fmla="val 8000"/>
            </a:avLst>
          </a:prstGeom>
          <a:solidFill>
            <a:srgbClr val="121822"/>
          </a:solidFill>
          <a:ln>
            <a:solidFill>
              <a:srgbClr val="23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143000"/>
            <a:ext cx="1828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D2FF"/>
                </a:solidFill>
                <a:latin typeface="Aptos Display"/>
              </a:rPr>
              <a:t>EDGE AI LIVE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828800"/>
            <a:ext cx="1463040" cy="146304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3657600"/>
            <a:ext cx="17373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Paper/Cardboard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4005072"/>
            <a:ext cx="1508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 Display"/>
              </a:rPr>
              <a:t>93% confidence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21040" y="-320040"/>
            <a:ext cx="4389120" cy="7498079"/>
          </a:xfrm>
          <a:prstGeom prst="roundRect">
            <a:avLst>
              <a:gd name="adj" fmla="val 8000"/>
            </a:avLst>
          </a:prstGeom>
          <a:solidFill>
            <a:srgbClr val="03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5029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D2FF"/>
                </a:solidFill>
                <a:latin typeface="Aptos Display"/>
              </a:rPr>
              <a:t>ECOSCAN FINAL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7132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Problem and 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29000" cy="4023360"/>
          </a:xfrm>
          <a:prstGeom prst="roundRect">
            <a:avLst>
              <a:gd name="adj" fmla="val 8000"/>
            </a:avLst>
          </a:prstGeom>
          <a:solidFill>
            <a:srgbClr val="121822"/>
          </a:solidFill>
          <a:ln>
            <a:solidFill>
              <a:srgbClr val="23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3429000" cy="4023360"/>
          </a:xfrm>
          <a:prstGeom prst="roundRect">
            <a:avLst>
              <a:gd name="adj" fmla="val 8000"/>
            </a:avLst>
          </a:prstGeom>
          <a:solidFill>
            <a:srgbClr val="121822"/>
          </a:solidFill>
          <a:ln>
            <a:solidFill>
              <a:srgbClr val="23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92440" y="1600200"/>
            <a:ext cx="3429000" cy="4023360"/>
          </a:xfrm>
          <a:prstGeom prst="roundRect">
            <a:avLst>
              <a:gd name="adj" fmla="val 8000"/>
            </a:avLst>
          </a:prstGeom>
          <a:solidFill>
            <a:srgbClr val="121822"/>
          </a:solidFill>
          <a:ln>
            <a:solidFill>
              <a:srgbClr val="23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2468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D2FF"/>
                </a:solidFill>
                <a:latin typeface="Aptos Display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87168"/>
            <a:ext cx="2743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Manual waste segregation causes confusion.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Wrong disposal contaminates recycling bins.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Users have no simple way to track eco-impact.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01952"/>
            <a:ext cx="2468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2C55E"/>
                </a:solidFill>
                <a:latin typeface="Aptos Display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87168"/>
            <a:ext cx="2743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Classify waste using a camera or image upload.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Guide users before saving scan results.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Show CO2, history, and sustainability metrics.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901952"/>
            <a:ext cx="2468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0D2FF"/>
                </a:solidFill>
                <a:latin typeface="Aptos Display"/>
              </a:rPr>
              <a:t>Target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487168"/>
            <a:ext cx="2743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Students and campus users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Eco-conscious households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Waste management offices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University campuses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21040" y="-320040"/>
            <a:ext cx="4389120" cy="7498079"/>
          </a:xfrm>
          <a:prstGeom prst="roundRect">
            <a:avLst>
              <a:gd name="adj" fmla="val 8000"/>
            </a:avLst>
          </a:prstGeom>
          <a:solidFill>
            <a:srgbClr val="03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5029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D2FF"/>
                </a:solidFill>
                <a:latin typeface="Aptos Display"/>
              </a:rPr>
              <a:t>ECOSCAN FINAL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7132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Technology and Innovation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166360" cy="4389120"/>
          </a:xfrm>
          <a:prstGeom prst="roundRect">
            <a:avLst>
              <a:gd name="adj" fmla="val 8000"/>
            </a:avLst>
          </a:prstGeom>
          <a:solidFill>
            <a:srgbClr val="121822"/>
          </a:solidFill>
          <a:ln>
            <a:solidFill>
              <a:srgbClr val="23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121822"/>
          </a:solidFill>
          <a:ln>
            <a:solidFill>
              <a:srgbClr val="23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2976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D2FF"/>
                </a:solidFill>
                <a:latin typeface="Aptos Display"/>
              </a:rP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42032"/>
            <a:ext cx="4297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React + Vite frontend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Firebase Authentication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TensorFlow.js in-browser AI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Teachable Machine trained model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PWA service worker and offline cache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Vercel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2976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2C55E"/>
                </a:solidFill>
                <a:latin typeface="Aptos Display"/>
              </a:rPr>
              <a:t>Emerging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42032"/>
            <a:ext cx="4297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Computer vision classifies waste images.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Edge AI runs locally on the device.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No image upload is required for prediction.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Works better in low-connectivity areas.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Background class reduces false detections.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21040" y="-320040"/>
            <a:ext cx="4389120" cy="7498079"/>
          </a:xfrm>
          <a:prstGeom prst="roundRect">
            <a:avLst>
              <a:gd name="adj" fmla="val 8000"/>
            </a:avLst>
          </a:prstGeom>
          <a:solidFill>
            <a:srgbClr val="03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5029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D2FF"/>
                </a:solidFill>
                <a:latin typeface="Aptos Display"/>
              </a:rPr>
              <a:t>ECOSCAN FINAL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7132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Key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1554480"/>
          </a:xfrm>
          <a:prstGeom prst="roundRect">
            <a:avLst>
              <a:gd name="adj" fmla="val 8000"/>
            </a:avLst>
          </a:prstGeom>
          <a:solidFill>
            <a:srgbClr val="121822"/>
          </a:solidFill>
          <a:ln>
            <a:solidFill>
              <a:srgbClr val="23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74519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0D2FF"/>
                </a:solidFill>
                <a:latin typeface="Aptos Display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04288"/>
            <a:ext cx="2743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Display"/>
              </a:rPr>
              <a:t>CO2 reduced, total scans, confidence, recycle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45920"/>
            <a:ext cx="3337560" cy="1554480"/>
          </a:xfrm>
          <a:prstGeom prst="roundRect">
            <a:avLst>
              <a:gd name="adj" fmla="val 8000"/>
            </a:avLst>
          </a:prstGeom>
          <a:solidFill>
            <a:srgbClr val="121822"/>
          </a:solidFill>
          <a:ln>
            <a:solidFill>
              <a:srgbClr val="23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874519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22C55E"/>
                </a:solidFill>
                <a:latin typeface="Aptos Display"/>
              </a:rPr>
              <a:t>Scanner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2304288"/>
            <a:ext cx="2743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Display"/>
              </a:rPr>
              <a:t>Camera/upload classification with focus box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645920"/>
            <a:ext cx="3337560" cy="1554480"/>
          </a:xfrm>
          <a:prstGeom prst="roundRect">
            <a:avLst>
              <a:gd name="adj" fmla="val 8000"/>
            </a:avLst>
          </a:prstGeom>
          <a:solidFill>
            <a:srgbClr val="121822"/>
          </a:solidFill>
          <a:ln>
            <a:solidFill>
              <a:srgbClr val="23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7072" y="1874519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0D2FF"/>
                </a:solidFill>
                <a:latin typeface="Aptos Display"/>
              </a:rPr>
              <a:t>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2304288"/>
            <a:ext cx="2743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Display"/>
              </a:rPr>
              <a:t>Confirm or rescan before saving to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3337560" cy="1554480"/>
          </a:xfrm>
          <a:prstGeom prst="roundRect">
            <a:avLst>
              <a:gd name="adj" fmla="val 8000"/>
            </a:avLst>
          </a:prstGeom>
          <a:solidFill>
            <a:srgbClr val="121822"/>
          </a:solidFill>
          <a:ln>
            <a:solidFill>
              <a:srgbClr val="23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93192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22C55E"/>
                </a:solidFill>
                <a:latin typeface="Aptos Display"/>
              </a:rPr>
              <a:t>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361688"/>
            <a:ext cx="2743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Display"/>
              </a:rPr>
              <a:t>Saved scans with delete and clear options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703320"/>
            <a:ext cx="3337560" cy="1554480"/>
          </a:xfrm>
          <a:prstGeom prst="roundRect">
            <a:avLst>
              <a:gd name="adj" fmla="val 8000"/>
            </a:avLst>
          </a:prstGeom>
          <a:solidFill>
            <a:srgbClr val="121822"/>
          </a:solidFill>
          <a:ln>
            <a:solidFill>
              <a:srgbClr val="23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2312" y="393192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0D2FF"/>
                </a:solidFill>
                <a:latin typeface="Aptos Display"/>
              </a:rPr>
              <a:t>Stats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4361688"/>
            <a:ext cx="2743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Display"/>
              </a:rPr>
              <a:t>Category analytics, carbon tracking, efficiency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703320"/>
            <a:ext cx="3337560" cy="1554480"/>
          </a:xfrm>
          <a:prstGeom prst="roundRect">
            <a:avLst>
              <a:gd name="adj" fmla="val 8000"/>
            </a:avLst>
          </a:prstGeom>
          <a:solidFill>
            <a:srgbClr val="121822"/>
          </a:solidFill>
          <a:ln>
            <a:solidFill>
              <a:srgbClr val="23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393192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22C55E"/>
                </a:solidFill>
                <a:latin typeface="Aptos Display"/>
              </a:rPr>
              <a:t>Settings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4361688"/>
            <a:ext cx="2743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 Display"/>
              </a:rPr>
              <a:t>Profile picture, dark mode, PWA install, account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21040" y="-320040"/>
            <a:ext cx="4389120" cy="7498079"/>
          </a:xfrm>
          <a:prstGeom prst="roundRect">
            <a:avLst>
              <a:gd name="adj" fmla="val 8000"/>
            </a:avLst>
          </a:prstGeom>
          <a:solidFill>
            <a:srgbClr val="03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5029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D2FF"/>
                </a:solidFill>
                <a:latin typeface="Aptos Display"/>
              </a:rPr>
              <a:t>ECOSCAN FINAL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7132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Demo Flow and Use 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607040" cy="4343400"/>
          </a:xfrm>
          <a:prstGeom prst="roundRect">
            <a:avLst>
              <a:gd name="adj" fmla="val 8000"/>
            </a:avLst>
          </a:prstGeom>
          <a:solidFill>
            <a:srgbClr val="121822"/>
          </a:solidFill>
          <a:ln>
            <a:solidFill>
              <a:srgbClr val="23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65836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1. Open deployed EcoScan landing page or scan the QR code.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2. Sign in using email/password or Google authentication.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3. Open Dashboard and start the Edge AI scanner.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4. Place one waste item inside the focus box and capture.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5. Review confidence level, disposal guide, and confirm/rescan.</a:t>
            </a:r>
          </a:p>
          <a:p>
            <a:pPr>
              <a:spcAft>
                <a:spcPts val="7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6. Check History, Stats, Carbon Tracking, and Settings.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2057400"/>
            <a:ext cx="2560320" cy="2560320"/>
          </a:xfrm>
          <a:prstGeom prst="roundRect">
            <a:avLst>
              <a:gd name="adj" fmla="val 8000"/>
            </a:avLst>
          </a:prstGeom>
          <a:solidFill>
            <a:srgbClr val="121822"/>
          </a:solidFill>
          <a:ln>
            <a:solidFill>
              <a:srgbClr val="23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2423160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2C55E"/>
                </a:solidFill>
                <a:latin typeface="Aptos Display"/>
              </a:rPr>
              <a:t>Sample 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971800"/>
            <a:ext cx="201168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 Display"/>
              </a:rPr>
              <a:t>A student scans a bottle/can after lunch. EcoScan classifies it locally, gives a disposal guide, and records the verified scan.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72200"/>
            <a:ext cx="5943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 Display"/>
              </a:rPr>
              <a:t>Tip: Keep this slide open only briefly, then proceed to the live system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